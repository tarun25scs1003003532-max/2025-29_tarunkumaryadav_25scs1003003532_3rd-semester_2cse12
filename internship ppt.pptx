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erriweather"/>
      <p:regular r:id="rId201314"/>
    </p:embeddedFont>
    <p:embeddedFont>
      <p:font typeface="Merriweather SemiBold"/>
      <p:regular r:id="rId201315"/>
    </p:embeddedFont>
    <p:embeddedFont>
      <p:font typeface="Merriweather Bold"/>
      <p:regular r:id="rId201316"/>
    </p:embeddedFont>
    <p:embeddedFont>
      <p:font typeface="Merriweather Black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5.png"/><Relationship Id="rId8" Type="http://schemas.openxmlformats.org/officeDocument/2006/relationships/image" Target="../media/image-10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031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2409825"/>
            <a:ext cx="6180181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SMS Spam Detection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19814" y="3361035"/>
            <a:ext cx="6789766" cy="329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An AI/ML Internship Project Report — Codec Technologies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9814" y="3921423"/>
            <a:ext cx="6180181" cy="526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Name: Tarun Kumar Yadav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Roll No.: 25SCS1003003532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031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817662"/>
            <a:ext cx="6180181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719814" y="1768872"/>
            <a:ext cx="2987203" cy="2526407"/>
          </a:xfrm>
          <a:prstGeom prst="roundRect">
            <a:avLst>
              <a:gd name="adj" fmla="val 3419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8189" y="1987252"/>
            <a:ext cx="25504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38189" y="2431852"/>
            <a:ext cx="2550453" cy="164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Automatic classification of SMS messages as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spam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or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ham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(legitimate) using NLP and machine learning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12693" y="1768872"/>
            <a:ext cx="2987303" cy="2526407"/>
          </a:xfrm>
          <a:prstGeom prst="roundRect">
            <a:avLst>
              <a:gd name="adj" fmla="val 3419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31068" y="1987252"/>
            <a:ext cx="255055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Approach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131068" y="2431852"/>
            <a:ext cx="2550553" cy="164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Applied NLP techniques to distinguish unsolicited, promotional, or fraudulent messages from genuine ones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19814" y="4500959"/>
            <a:ext cx="6180181" cy="1539379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2700">
            <a:solidFill>
              <a:srgbClr val="194A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8189" y="4719340"/>
            <a:ext cx="574343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Final Result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38189" y="5163939"/>
            <a:ext cx="5743431" cy="658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98.16%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accuracy and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99.17%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precision on the held-out test set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710432"/>
            <a:ext cx="3436951" cy="34370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4950" y="847229"/>
            <a:ext cx="6813181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Problem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4950" y="1721346"/>
            <a:ext cx="2133943" cy="426372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97623" y="1952427"/>
            <a:ext cx="1570197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Evolving Threat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4997623" y="2800648"/>
            <a:ext cx="1570197" cy="2632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Unsolicited spam ranges from harmless promotional content to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phishing and financial-fraud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attempts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4569" y="1721346"/>
            <a:ext cx="2133943" cy="426372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7241" y="1952427"/>
            <a:ext cx="1570197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Limits of Simple Filters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337241" y="3121918"/>
            <a:ext cx="1570197" cy="2632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Keyword-based filters are easily bypassed and prone to misclassifying legitimate messages at scale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4188" y="1721346"/>
            <a:ext cx="2133943" cy="426372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6860" y="1952427"/>
            <a:ext cx="1570197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Data-Driven Need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9676860" y="2800648"/>
            <a:ext cx="1570197" cy="197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classification system with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high precision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is required to avoid costly false positives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 &amp; Scope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19814" y="1041102"/>
            <a:ext cx="5343887" cy="33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5,572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19814" y="1470422"/>
            <a:ext cx="534388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Total Messages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9814" y="1661914"/>
            <a:ext cx="5343887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SMS Spam Collection dataset, labelled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127894" y="1041102"/>
            <a:ext cx="5343987" cy="33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5,169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6127894" y="1470422"/>
            <a:ext cx="534398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Unique Messages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7894" y="1661914"/>
            <a:ext cx="5343987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After removing 403 duplicate rows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59204" y="2511623"/>
            <a:ext cx="1264908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87.4%</a:t>
            </a:r>
            <a:endParaRPr lang="en-US" sz="2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0401" y="1868884"/>
            <a:ext cx="1542615" cy="154265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9814" y="3488630"/>
            <a:ext cx="534388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Ham (Legitimate)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9814" y="3680123"/>
            <a:ext cx="5343887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4,516 messages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167384" y="2511623"/>
            <a:ext cx="1264908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12.6%</a:t>
            </a:r>
            <a:endParaRPr lang="en-US" sz="2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580" y="1868884"/>
            <a:ext cx="1542615" cy="154265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27894" y="3488630"/>
            <a:ext cx="534398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Spam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127894" y="3680123"/>
            <a:ext cx="5343987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653 messages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19814" y="3880644"/>
            <a:ext cx="1075206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 Key Distinguishing Feature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19814" y="4118471"/>
            <a:ext cx="11361652" cy="1234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Spam messages average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137.5 characters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versus just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70.5 characters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for ham — nearly double the length. This signal proved valuable during feature engineering.</a:t>
            </a:r>
            <a:endParaRPr lang="en-US" sz="8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4299744"/>
            <a:ext cx="10752067" cy="60212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687413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 Stack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2741513"/>
            <a:ext cx="411351" cy="4113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3409950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Language &amp; Environment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9814" y="3854549"/>
            <a:ext cx="3412643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 3 with Jupyter Notebook for interactive experimentation and reproducible analysis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9526" y="2741513"/>
            <a:ext cx="411351" cy="4113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526" y="3409950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NLP &amp; Feature Extraction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389526" y="3854549"/>
            <a:ext cx="3412643" cy="987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NLTK for text preprocessing, scikit-learn TF-IDF vectorization with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max_features = 3,000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59238" y="2741513"/>
            <a:ext cx="411351" cy="4113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59238" y="3409950"/>
            <a:ext cx="3412643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Machine Learning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8059238" y="3854549"/>
            <a:ext cx="3412643" cy="1316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scikit-learn and XGBoost powering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11 classifiers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plus ensemble methods for final model selection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6440"/>
            <a:ext cx="10752067" cy="632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ML Pipeline Architecture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172" y="1597720"/>
            <a:ext cx="8361352" cy="3826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17472" y="4364549"/>
            <a:ext cx="1569763" cy="604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Training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39139" y="4364549"/>
            <a:ext cx="1569763" cy="604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Feature Extraction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71559" y="4364549"/>
            <a:ext cx="1569764" cy="604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Text Pre-processing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60972" y="4364549"/>
            <a:ext cx="1569764" cy="604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Cleaning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19814" y="5648623"/>
            <a:ext cx="10752067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Each stage feeds directly into the next, producing a clean, vectorized feature matrix ready for supervised learning.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64468"/>
            <a:ext cx="10752067" cy="642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Comparison Results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847056"/>
            <a:ext cx="6250426" cy="4107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30296" y="1615678"/>
            <a:ext cx="4295965" cy="4577854"/>
          </a:xfrm>
          <a:prstGeom prst="roundRect">
            <a:avLst>
              <a:gd name="adj" fmla="val 3447"/>
            </a:avLst>
          </a:prstGeom>
          <a:solidFill>
            <a:srgbClr val="041938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7535972" y="1821359"/>
            <a:ext cx="388461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Precision Matters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535972" y="2348309"/>
            <a:ext cx="3884615" cy="3660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Eleven algorithms were evaluated on identical 80/20 train/test splits.</a:t>
            </a:r>
            <a:endParaRPr lang="en-US" sz="16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Precision was the primary metric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a legitimate message misclassified as spam is a worse outcome than missing a spam message.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Multinomial Naive Bayes achieved a perfect </a:t>
            </a:r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100% precision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while Extra Trees balanced both metrics at the top of the leaderboard.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0318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736" y="511572"/>
            <a:ext cx="4376033" cy="5834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848320"/>
            <a:ext cx="6180181" cy="61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Ensemble Improvement</a:t>
            </a:r>
            <a:endParaRPr lang="en-US" sz="3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14" y="1741190"/>
            <a:ext cx="980158" cy="14227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86796" y="1937147"/>
            <a:ext cx="5013200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Base Estimators Selected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886796" y="2355453"/>
            <a:ext cx="5013200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SVC (sigmoid), Multinomial Naive Bayes, Extra Trees Classifier — the three strongest individual models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3163987"/>
            <a:ext cx="980158" cy="142279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86796" y="3359944"/>
            <a:ext cx="5013200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Ensemble Strategies Tested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1886796" y="3778250"/>
            <a:ext cx="5013200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Soft </a:t>
            </a:r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Voting Classifier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Stacking Classifier with a Random Forest meta-learner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814" y="4586784"/>
            <a:ext cx="980158" cy="142279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886796" y="4782741"/>
            <a:ext cx="5013200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Final Model Chosen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1886796" y="5201047"/>
            <a:ext cx="5013200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Soft Voting Classifier — </a:t>
            </a:r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98.16% accuracy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</a:t>
            </a:r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99.17% precision</a:t>
            </a:r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outperforming all individual classifiers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929084"/>
            <a:ext cx="10752067" cy="514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Outcomes Delivered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19814" y="1788716"/>
            <a:ext cx="370176" cy="370185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1477" y="1819523"/>
            <a:ext cx="24675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221551" y="1845270"/>
            <a:ext cx="6346567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Clean Dataset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21551" y="2233910"/>
            <a:ext cx="6346567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De-duplicated corpus of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5,169 labelled SMS messages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ready for downstream use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9814" y="2734072"/>
            <a:ext cx="370176" cy="370185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477" y="2764879"/>
            <a:ext cx="24675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21551" y="2790627"/>
            <a:ext cx="6346567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Reusable Pre-processing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21551" y="3179266"/>
            <a:ext cx="6346567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transform_text()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function encapsulating tokenization, stop-word removal, and Porter stemming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9814" y="3916363"/>
            <a:ext cx="370176" cy="370185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1477" y="3947170"/>
            <a:ext cx="24675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221551" y="3972917"/>
            <a:ext cx="6346567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Algorithm Benchmark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21551" y="4361557"/>
            <a:ext cx="6346567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Comparative evaluation of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11 supervised algorithms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and ensemble strategies with full metrics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9814" y="5098653"/>
            <a:ext cx="370176" cy="370185"/>
          </a:xfrm>
          <a:prstGeom prst="roundRect">
            <a:avLst>
              <a:gd name="adj" fmla="val 18670"/>
            </a:avLst>
          </a:prstGeom>
          <a:solidFill>
            <a:srgbClr val="003180"/>
          </a:solidFill>
          <a:ln w="6350">
            <a:solidFill>
              <a:srgbClr val="194A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477" y="5129461"/>
            <a:ext cx="24675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21551" y="5155208"/>
            <a:ext cx="6346567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Supporting Visualizations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21551" y="5543848"/>
            <a:ext cx="6346567" cy="236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Class distribution charts, spam/ham </a:t>
            </a:r>
            <a:pPr algn="l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word clouds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and correlation heat-maps</a:t>
            </a:r>
            <a:endParaRPr lang="en-US" sz="12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6130" y="2383830"/>
            <a:ext cx="2801768" cy="28018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67358"/>
            <a:ext cx="10752067" cy="59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Enhancements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1709440"/>
            <a:ext cx="5288624" cy="19574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0375" y="1851620"/>
            <a:ext cx="227503" cy="284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34816" y="2467769"/>
            <a:ext cx="4858621" cy="29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Packaging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34816" y="2868910"/>
            <a:ext cx="4858621" cy="583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Serialize the final Voting Classifier with </a:t>
            </a:r>
            <a:pPr algn="l"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pickle/joblib</a:t>
            </a:r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for portable reuse and one-click deployment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3158" y="1709440"/>
            <a:ext cx="5288723" cy="19574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3718" y="1851620"/>
            <a:ext cx="227503" cy="284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6398159" y="2467769"/>
            <a:ext cx="4858720" cy="29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Web Deployment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398159" y="2868910"/>
            <a:ext cx="4858720" cy="583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Deploy the classifier behind a </a:t>
            </a:r>
            <a:pPr algn="l"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web interface</a:t>
            </a:r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to enable real-world, end-user SMS filtering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814" y="3841651"/>
            <a:ext cx="5288624" cy="22489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0375" y="3983831"/>
            <a:ext cx="227503" cy="284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934816" y="4599980"/>
            <a:ext cx="4858621" cy="29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N-gram Features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34816" y="5001121"/>
            <a:ext cx="4858621" cy="583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Incorporate </a:t>
            </a:r>
            <a:pPr algn="l"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bigram and trigram</a:t>
            </a:r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features to capture short spam phrases missed by unigram TF-IDF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3158" y="3841651"/>
            <a:ext cx="5288723" cy="224899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3718" y="3983831"/>
            <a:ext cx="227503" cy="2843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6398159" y="4599980"/>
            <a:ext cx="4858720" cy="296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Continuous Retraining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6398159" y="5001121"/>
            <a:ext cx="4858720" cy="874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Schedule </a:t>
            </a:r>
            <a:pPr algn="l" indent="0" marL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E2E6E9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periodic retraining</a:t>
            </a:r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on newer spam samples to counter concept drift as spam tactics evolve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2026-09-10T15:12:59Z</dcterms:created>
  <dcterms:modified xsi:type="dcterms:W3CDTF">2026-09-10T15:12:59Z</dcterms:modified>
</cp:coreProperties>
</file>